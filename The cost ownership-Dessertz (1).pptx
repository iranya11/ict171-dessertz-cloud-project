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D8E2"/>
    <a:srgbClr val="652D25"/>
    <a:srgbClr val="F9B9E7"/>
    <a:srgbClr val="FEDEFF"/>
    <a:srgbClr val="FFCCFF"/>
    <a:srgbClr val="FFCC99"/>
    <a:srgbClr val="FFC5E2"/>
    <a:srgbClr val="FFCCCC"/>
    <a:srgbClr val="F4C6ED"/>
    <a:srgbClr val="EBDA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F2C9CD-44AD-4AE9-9BF3-C8940760BA47}" v="6" dt="2026-07-03T12:38:22.148"/>
  </p1510:revLst>
</p1510:revInfo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3985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Hi, I'm presenting my Total Cost of Ownership comparison for Dessertz, a dessert-culture platform I'm hosting on Azure. Over the next five minutes I'll walk through the project, cost it out on IaaS versus a SaaS alternative, discuss the non-financial trade-offs, and finish with my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Dessertz is a platform I'm building to document regional desserts as cultural heritage, not just recipes. It's currently a static site on an Azure Ubuntu VM running Apache. The planned roadmap adds a database-backed regional explorer, recipe library, cultural stories and user accounts — that growth path is why I'm comparing IaaS against a SaaS website builder like Wix.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Azure side, I've costed every component: the B1s VM, managed disk, data egress, domain, SSL — which is free via Let's Encrypt — backups, and importantly my own admin labour time, since patching and securing the server isn't free. That comes to roughly $78 a month today, and I've also costed what it will look like once I add a managed database for the recipe library and user accounts — another $25 to $35 a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SaaS side, Wix's Core plan covers hosting, storage and basic e-commerce for $29 a month, and I've added a realistic estimate for a third-party map app to approximate the Regional Explorer feature. Total comes to about $45 a month — cheaper than Azure today — but critically, Wix's hosted builder cannot support a real database-backed regional explorer with custom logic, which is central to where Dessertz is headed.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 is only part of the story. Azure gives me control and room to scale as Dessertz grows, but that comes with a real maintenance burden — I'm responsible for patching and security. Wix is fully managed and faster to launch, but locks me into its ecosystem and can't support the custom database features Dessertz needs long-term.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recommendation is to stay on Azure IaaS. The cost premium over Wix today is modest, and it buys the control that Dessertz's roadmap already demands — the Regional Explorer, recipe library and accounts all need real server-side logic that a hosted SaaS builder can't provide. If Dessertz stayed a simple static blog forever, Wix would be the better call — but given where this project is going, IaaS is the right long-term investment. Happy to take any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4274201" y="1381864"/>
            <a:ext cx="44291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u="sng" dirty="0">
                <a:solidFill>
                  <a:srgbClr val="652D25"/>
                </a:solidFill>
                <a:latin typeface="Book Antiqua" panose="02040602050305030304" pitchFamily="18" charset="0"/>
                <a:ea typeface="Cambria" pitchFamily="34" charset="-122"/>
                <a:cs typeface="Cambria" pitchFamily="34" charset="-120"/>
              </a:rPr>
              <a:t>Dessertz</a:t>
            </a:r>
            <a:endParaRPr lang="en-US" sz="6600" u="sng" dirty="0">
              <a:solidFill>
                <a:srgbClr val="652D25"/>
              </a:solidFill>
              <a:latin typeface="Book Antiqua" panose="0204060205030503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274201" y="2321399"/>
            <a:ext cx="53632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52D25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A Total Cost of Ownership Comparison</a:t>
            </a:r>
            <a:endParaRPr lang="en-US" sz="2200" b="1" dirty="0">
              <a:solidFill>
                <a:srgbClr val="652D25"/>
              </a:solidFill>
              <a:latin typeface="Book Antiqua" panose="0204060205030503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274201" y="2733675"/>
            <a:ext cx="7439025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652D25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Infrastructure as a Service (Microsoft Azure)  vs.  Software as a Service (Wix)</a:t>
            </a:r>
            <a:endParaRPr lang="en-US" sz="1600" b="1" dirty="0">
              <a:solidFill>
                <a:srgbClr val="652D25"/>
              </a:solidFill>
              <a:latin typeface="Book Antiqua" panose="0204060205030503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272392" y="6236493"/>
            <a:ext cx="72665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652D25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ICT171 — Introduction to Server Environments and Architectures  |  Assignment2</a:t>
            </a:r>
          </a:p>
          <a:p>
            <a:pPr marL="0" indent="0">
              <a:buNone/>
            </a:pPr>
            <a:r>
              <a:rPr lang="en-US" sz="1600" b="1" i="1" dirty="0">
                <a:solidFill>
                  <a:srgbClr val="652D25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Iranya dewmini </a:t>
            </a:r>
            <a:r>
              <a:rPr lang="en-US" sz="1600" b="1" i="1" dirty="0" err="1">
                <a:solidFill>
                  <a:srgbClr val="652D25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Haupe</a:t>
            </a:r>
            <a:r>
              <a:rPr lang="en-US" sz="1600" b="1" i="1" dirty="0">
                <a:solidFill>
                  <a:srgbClr val="652D25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 Liyanage 35900162</a:t>
            </a:r>
            <a:endParaRPr lang="en-US" sz="1600" b="1" i="1" dirty="0">
              <a:solidFill>
                <a:srgbClr val="652D25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7245" y="401159"/>
            <a:ext cx="8149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Dessertz?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17245" y="10058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digital home for regional dessert culture, recipes, and the stories behind them</a:t>
            </a:r>
            <a:endParaRPr lang="en-US" b="1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943600" cy="4434840"/>
          </a:xfrm>
          <a:prstGeom prst="roundRect">
            <a:avLst>
              <a:gd name="adj" fmla="val 2474"/>
            </a:avLst>
          </a:prstGeom>
          <a:solidFill>
            <a:srgbClr val="ECD8E2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AE" dirty="0">
              <a:highlight>
                <a:srgbClr val="ECD8E2"/>
              </a:highlight>
            </a:endParaRPr>
          </a:p>
        </p:txBody>
      </p:sp>
      <p:sp>
        <p:nvSpPr>
          <p:cNvPr id="6" name="Text 4"/>
          <p:cNvSpPr/>
          <p:nvPr/>
        </p:nvSpPr>
        <p:spPr>
          <a:xfrm>
            <a:off x="533400" y="1645920"/>
            <a:ext cx="60045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108000"/>
              </a:lnSpc>
              <a:spcAft>
                <a:spcPts val="10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Dessertz documents regional desserts as cultural heritage and the history and stories behind each dish, not just the ingredients list.</a:t>
            </a: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a static site hosted on an Azure VM (Ubuntu 22.04 LTS, Apache), lives at desertz.ddns.net.</a:t>
            </a: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growth: a database driven Regional Explorer (interactive map), a searchable Recipe Library, Cultural Stories, and user accounts.</a:t>
            </a:r>
            <a:endParaRPr lang="en-US" sz="1600" dirty="0"/>
          </a:p>
          <a:p>
            <a:pPr marL="342900" indent="-342900">
              <a:lnSpc>
                <a:spcPct val="108000"/>
              </a:lnSpc>
              <a:buSzPct val="100000"/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growth path is exactly why this TCO matters: today's simple static site could just as easily live on a no-code SaaS builder.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05600" y="1536192"/>
            <a:ext cx="4937760" cy="1033272"/>
          </a:xfrm>
          <a:prstGeom prst="roundRect">
            <a:avLst>
              <a:gd name="adj" fmla="val 8850"/>
            </a:avLst>
          </a:prstGeom>
          <a:solidFill>
            <a:srgbClr val="ECD8E2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AE" dirty="0">
              <a:highlight>
                <a:srgbClr val="ECD8E2"/>
              </a:highlight>
            </a:endParaRPr>
          </a:p>
        </p:txBody>
      </p:sp>
      <p:sp>
        <p:nvSpPr>
          <p:cNvPr id="8" name="Shape 6"/>
          <p:cNvSpPr/>
          <p:nvPr/>
        </p:nvSpPr>
        <p:spPr>
          <a:xfrm>
            <a:off x="6903720" y="1783080"/>
            <a:ext cx="658368" cy="658368"/>
          </a:xfrm>
          <a:prstGeom prst="ellipse">
            <a:avLst/>
          </a:prstGeom>
          <a:solidFill>
            <a:srgbClr val="E7E8D1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2724" y="1862084"/>
            <a:ext cx="500360" cy="500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73985" y="1745297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B12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Regional Explorer</a:t>
            </a:r>
            <a:endParaRPr lang="en-US" sz="1600" dirty="0">
              <a:latin typeface="Book Antiqua" panose="0204060205030503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699248" y="1955135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 of dessert origins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705600" y="2750663"/>
            <a:ext cx="4937760" cy="1033272"/>
          </a:xfrm>
          <a:prstGeom prst="roundRect">
            <a:avLst>
              <a:gd name="adj" fmla="val 8850"/>
            </a:avLst>
          </a:prstGeom>
          <a:solidFill>
            <a:srgbClr val="ECD8E2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AE"/>
          </a:p>
        </p:txBody>
      </p:sp>
      <p:sp>
        <p:nvSpPr>
          <p:cNvPr id="13" name="Shape 10"/>
          <p:cNvSpPr/>
          <p:nvPr/>
        </p:nvSpPr>
        <p:spPr>
          <a:xfrm>
            <a:off x="6903720" y="2953512"/>
            <a:ext cx="658368" cy="658368"/>
          </a:xfrm>
          <a:prstGeom prst="ellipse">
            <a:avLst/>
          </a:prstGeom>
          <a:solidFill>
            <a:srgbClr val="E7E8D1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2724" y="3032516"/>
            <a:ext cx="500360" cy="5003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726680" y="28986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B12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Recipe Library</a:t>
            </a:r>
            <a:endParaRPr lang="en-US" sz="1600" dirty="0">
              <a:latin typeface="Book Antiqua" panose="0204060205030503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7699248" y="31546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ea typeface="Calibri" pitchFamily="34" charset="-122"/>
                <a:cs typeface="Calibri" pitchFamily="34" charset="-120"/>
              </a:rPr>
              <a:t>Searchable, database-backed recipes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720840" y="3941064"/>
            <a:ext cx="4937760" cy="1033272"/>
          </a:xfrm>
          <a:prstGeom prst="roundRect">
            <a:avLst>
              <a:gd name="adj" fmla="val 8850"/>
            </a:avLst>
          </a:prstGeom>
          <a:solidFill>
            <a:srgbClr val="ECD8E2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AE"/>
          </a:p>
        </p:txBody>
      </p:sp>
      <p:sp>
        <p:nvSpPr>
          <p:cNvPr id="18" name="Shape 14"/>
          <p:cNvSpPr/>
          <p:nvPr/>
        </p:nvSpPr>
        <p:spPr>
          <a:xfrm>
            <a:off x="6903720" y="4123944"/>
            <a:ext cx="658368" cy="658368"/>
          </a:xfrm>
          <a:prstGeom prst="ellipse">
            <a:avLst/>
          </a:prstGeom>
          <a:solidFill>
            <a:srgbClr val="E7E8D1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2724" y="4202948"/>
            <a:ext cx="500360" cy="5003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726680" y="4069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B12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Cultural Stories</a:t>
            </a:r>
            <a:endParaRPr lang="en-US" sz="1600" dirty="0">
              <a:latin typeface="Book Antiqua" panose="02040602050305030304" pitchFamily="18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7711051" y="438912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ea typeface="Calibri" pitchFamily="34" charset="-122"/>
                <a:cs typeface="Calibri" pitchFamily="34" charset="-120"/>
              </a:rPr>
              <a:t>Heritage and history articles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720840" y="5111496"/>
            <a:ext cx="4937760" cy="1033272"/>
          </a:xfrm>
          <a:prstGeom prst="roundRect">
            <a:avLst>
              <a:gd name="adj" fmla="val 8850"/>
            </a:avLst>
          </a:prstGeom>
          <a:solidFill>
            <a:srgbClr val="ECD8E2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AE"/>
          </a:p>
        </p:txBody>
      </p:sp>
      <p:sp>
        <p:nvSpPr>
          <p:cNvPr id="23" name="Shape 18"/>
          <p:cNvSpPr/>
          <p:nvPr/>
        </p:nvSpPr>
        <p:spPr>
          <a:xfrm>
            <a:off x="6903720" y="5294376"/>
            <a:ext cx="658368" cy="658368"/>
          </a:xfrm>
          <a:prstGeom prst="ellipse">
            <a:avLst/>
          </a:prstGeom>
          <a:solidFill>
            <a:srgbClr val="E7E8D1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2724" y="5373380"/>
            <a:ext cx="500360" cy="5003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726680" y="5239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B12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User Accounts</a:t>
            </a:r>
            <a:endParaRPr lang="en-US" sz="1600" dirty="0">
              <a:latin typeface="Book Antiqua" panose="02040602050305030304" pitchFamily="18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7726680" y="546811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ea typeface="Calibri" pitchFamily="34" charset="-122"/>
                <a:cs typeface="Calibri" pitchFamily="34" charset="-120"/>
              </a:rPr>
              <a:t>Saved recipes, contributions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94360" cy="594360"/>
          </a:xfrm>
          <a:prstGeom prst="ellipse">
            <a:avLst/>
          </a:prstGeom>
          <a:solidFill>
            <a:srgbClr val="E7E8D1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" y="455371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8404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B12"/>
                </a:solidFill>
                <a:latin typeface="Book Antiqua" panose="02040602050305030304" pitchFamily="18" charset="0"/>
                <a:ea typeface="Cambria" pitchFamily="34" charset="-122"/>
                <a:cs typeface="Cambria" pitchFamily="34" charset="-120"/>
              </a:rPr>
              <a:t>TCO: Microsoft Azure (IaaS)</a:t>
            </a:r>
            <a:endParaRPr lang="en-US" sz="3000" dirty="0">
              <a:latin typeface="Book Antiqua" panose="0204060205030503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32588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Standard_B1s Linux VM, Ubuntu 22.04 LTS, Apache — East US region, pay-as-you-go</a:t>
            </a:r>
            <a:endParaRPr lang="en-US" sz="1400" b="1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4341541"/>
              </p:ext>
            </p:extLst>
          </p:nvPr>
        </p:nvGraphicFramePr>
        <p:xfrm>
          <a:off x="845820" y="1623528"/>
          <a:ext cx="10095722" cy="292608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2636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4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50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highlight>
                            <a:srgbClr val="ECD8E2"/>
                          </a:highlight>
                        </a:rPr>
                        <a:t>Cost Item</a:t>
                      </a:r>
                      <a:endParaRPr lang="en-US" sz="1600" b="1" dirty="0">
                        <a:solidFill>
                          <a:schemeClr val="tx1"/>
                        </a:solidFill>
                        <a:highlight>
                          <a:srgbClr val="ECD8E2"/>
                        </a:highlight>
                        <a:latin typeface="Book Antiqua" panose="020406020503050303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D8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highlight>
                            <a:srgbClr val="ECD8E2"/>
                          </a:highlight>
                        </a:rPr>
                        <a:t>Detail</a:t>
                      </a:r>
                      <a:endParaRPr lang="en-US" sz="1600" b="1" dirty="0">
                        <a:solidFill>
                          <a:schemeClr val="tx1"/>
                        </a:solidFill>
                        <a:highlight>
                          <a:srgbClr val="ECD8E2"/>
                        </a:highlight>
                        <a:latin typeface="Book Antiqua" panose="020406020503050303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D8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highlight>
                            <a:srgbClr val="ECD8E2"/>
                          </a:highlight>
                        </a:rPr>
                        <a:t>Monthly (USD)</a:t>
                      </a:r>
                      <a:endParaRPr lang="en-US" sz="1600" b="1" dirty="0">
                        <a:solidFill>
                          <a:schemeClr val="tx1"/>
                        </a:solidFill>
                        <a:highlight>
                          <a:srgbClr val="ECD8E2"/>
                        </a:highlight>
                        <a:latin typeface="Book Antiqua" panose="020406020503050303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D8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1B12"/>
                          </a:solidFill>
                          <a:highlight>
                            <a:srgbClr val="ECD8E2"/>
                          </a:highlight>
                        </a:rPr>
                        <a:t>VM compute (B1s)</a:t>
                      </a:r>
                      <a:endParaRPr lang="en-US" sz="1400" b="1" dirty="0">
                        <a:highlight>
                          <a:srgbClr val="ECD8E2"/>
                        </a:highlight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D8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1B12"/>
                          </a:solidFill>
                          <a:highlight>
                            <a:srgbClr val="ECD8E2"/>
                          </a:highlight>
                        </a:rPr>
                        <a:t>1 vCPU / 1 GiB RAM, pay-as-you-go</a:t>
                      </a:r>
                      <a:endParaRPr lang="en-US" sz="1400" b="1" dirty="0">
                        <a:highlight>
                          <a:srgbClr val="ECD8E2"/>
                        </a:highlight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D8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1B12"/>
                          </a:solidFill>
                          <a:highlight>
                            <a:srgbClr val="ECD8E2"/>
                          </a:highlight>
                        </a:rPr>
                        <a:t>$7.59</a:t>
                      </a:r>
                      <a:endParaRPr lang="en-US" sz="1400" b="1" dirty="0">
                        <a:highlight>
                          <a:srgbClr val="ECD8E2"/>
                        </a:highlight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D8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1B12"/>
                          </a:solidFill>
                          <a:highlight>
                            <a:srgbClr val="ECD8E2"/>
                          </a:highlight>
                        </a:rPr>
                        <a:t>Managed OS disk</a:t>
                      </a:r>
                      <a:endParaRPr lang="en-US" sz="1400" b="1" dirty="0">
                        <a:highlight>
                          <a:srgbClr val="ECD8E2"/>
                        </a:highlight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D8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1B12"/>
                          </a:solidFill>
                          <a:highlight>
                            <a:srgbClr val="ECD8E2"/>
                          </a:highlight>
                        </a:rPr>
                        <a:t>30 GB Premium SSD ($0.075/GB)</a:t>
                      </a:r>
                      <a:endParaRPr lang="en-US" sz="1400" b="1" dirty="0">
                        <a:highlight>
                          <a:srgbClr val="ECD8E2"/>
                        </a:highlight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D8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1B12"/>
                          </a:solidFill>
                          <a:highlight>
                            <a:srgbClr val="ECD8E2"/>
                          </a:highlight>
                        </a:rPr>
                        <a:t>$2.25</a:t>
                      </a:r>
                      <a:endParaRPr lang="en-US" sz="1400" b="1" dirty="0">
                        <a:highlight>
                          <a:srgbClr val="ECD8E2"/>
                        </a:highlight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D8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1B12"/>
                          </a:solidFill>
                          <a:highlight>
                            <a:srgbClr val="ECD8E2"/>
                          </a:highlight>
                        </a:rPr>
                        <a:t>Data egress</a:t>
                      </a:r>
                      <a:endParaRPr lang="en-US" sz="1400" b="1" dirty="0">
                        <a:highlight>
                          <a:srgbClr val="ECD8E2"/>
                        </a:highlight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D8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1B12"/>
                          </a:solidFill>
                          <a:highlight>
                            <a:srgbClr val="ECD8E2"/>
                          </a:highlight>
                        </a:rPr>
                        <a:t>50 GB/mo outbound ($0.087/GB)</a:t>
                      </a:r>
                      <a:endParaRPr lang="en-US" sz="1400" b="1" dirty="0">
                        <a:highlight>
                          <a:srgbClr val="ECD8E2"/>
                        </a:highlight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D8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1B12"/>
                          </a:solidFill>
                          <a:highlight>
                            <a:srgbClr val="ECD8E2"/>
                          </a:highlight>
                        </a:rPr>
                        <a:t>$4.35</a:t>
                      </a:r>
                      <a:endParaRPr lang="en-US" sz="1400" b="1" dirty="0">
                        <a:highlight>
                          <a:srgbClr val="ECD8E2"/>
                        </a:highlight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D8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1B12"/>
                          </a:solidFill>
                          <a:highlight>
                            <a:srgbClr val="ECD8E2"/>
                          </a:highlight>
                        </a:rPr>
                        <a:t>Domain name</a:t>
                      </a:r>
                      <a:endParaRPr lang="en-US" sz="1400" b="1" dirty="0">
                        <a:highlight>
                          <a:srgbClr val="ECD8E2"/>
                        </a:highlight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D8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1B12"/>
                          </a:solidFill>
                          <a:highlight>
                            <a:srgbClr val="ECD8E2"/>
                          </a:highlight>
                        </a:rPr>
                        <a:t>.com registration, amortised</a:t>
                      </a:r>
                      <a:endParaRPr lang="en-US" sz="1400" b="1" dirty="0">
                        <a:highlight>
                          <a:srgbClr val="ECD8E2"/>
                        </a:highlight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D8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1B12"/>
                          </a:solidFill>
                          <a:highlight>
                            <a:srgbClr val="ECD8E2"/>
                          </a:highlight>
                        </a:rPr>
                        <a:t>$1.25</a:t>
                      </a:r>
                      <a:endParaRPr lang="en-US" sz="1400" b="1" dirty="0">
                        <a:highlight>
                          <a:srgbClr val="ECD8E2"/>
                        </a:highlight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D8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1B12"/>
                          </a:solidFill>
                          <a:highlight>
                            <a:srgbClr val="ECD8E2"/>
                          </a:highlight>
                        </a:rPr>
                        <a:t>SSL certificate</a:t>
                      </a:r>
                      <a:endParaRPr lang="en-US" sz="1400" b="1" dirty="0">
                        <a:highlight>
                          <a:srgbClr val="ECD8E2"/>
                        </a:highlight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D8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1B12"/>
                          </a:solidFill>
                          <a:highlight>
                            <a:srgbClr val="ECD8E2"/>
                          </a:highlight>
                        </a:rPr>
                        <a:t>Let's Encrypt (Certbot)</a:t>
                      </a:r>
                      <a:endParaRPr lang="en-US" sz="1400" b="1" dirty="0">
                        <a:highlight>
                          <a:srgbClr val="ECD8E2"/>
                        </a:highlight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D8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1B12"/>
                          </a:solidFill>
                          <a:highlight>
                            <a:srgbClr val="ECD8E2"/>
                          </a:highlight>
                        </a:rPr>
                        <a:t>$0.00</a:t>
                      </a:r>
                      <a:endParaRPr lang="en-US" sz="1400" b="1" dirty="0">
                        <a:highlight>
                          <a:srgbClr val="ECD8E2"/>
                        </a:highlight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D8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1B12"/>
                          </a:solidFill>
                          <a:highlight>
                            <a:srgbClr val="ECD8E2"/>
                          </a:highlight>
                        </a:rPr>
                        <a:t>Backups / snapshots</a:t>
                      </a:r>
                      <a:endParaRPr lang="en-US" sz="1400" b="1" dirty="0">
                        <a:highlight>
                          <a:srgbClr val="ECD8E2"/>
                        </a:highlight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D8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1B12"/>
                          </a:solidFill>
                          <a:highlight>
                            <a:srgbClr val="ECD8E2"/>
                          </a:highlight>
                        </a:rPr>
                        <a:t>Weekly VM snapshot</a:t>
                      </a:r>
                      <a:endParaRPr lang="en-US" sz="1400" b="1" dirty="0">
                        <a:highlight>
                          <a:srgbClr val="ECD8E2"/>
                        </a:highlight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D8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1B12"/>
                          </a:solidFill>
                          <a:highlight>
                            <a:srgbClr val="ECD8E2"/>
                          </a:highlight>
                        </a:rPr>
                        <a:t>$3.00</a:t>
                      </a:r>
                      <a:endParaRPr lang="en-US" sz="1400" b="1" dirty="0">
                        <a:highlight>
                          <a:srgbClr val="ECD8E2"/>
                        </a:highlight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D8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1B12"/>
                          </a:solidFill>
                          <a:highlight>
                            <a:srgbClr val="ECD8E2"/>
                          </a:highlight>
                        </a:rPr>
                        <a:t>Admin labour</a:t>
                      </a:r>
                      <a:endParaRPr lang="en-US" sz="1400" b="1" dirty="0">
                        <a:highlight>
                          <a:srgbClr val="ECD8E2"/>
                        </a:highlight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D8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1B12"/>
                          </a:solidFill>
                          <a:highlight>
                            <a:srgbClr val="ECD8E2"/>
                          </a:highlight>
                        </a:rPr>
                        <a:t>2 hrs/mo patching, config @ $30/hr</a:t>
                      </a:r>
                      <a:endParaRPr lang="en-US" sz="1400" b="1" dirty="0">
                        <a:highlight>
                          <a:srgbClr val="ECD8E2"/>
                        </a:highlight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D8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1B12"/>
                          </a:solidFill>
                          <a:highlight>
                            <a:srgbClr val="ECD8E2"/>
                          </a:highlight>
                        </a:rPr>
                        <a:t>$60.00</a:t>
                      </a:r>
                      <a:endParaRPr lang="en-US" sz="1400" b="1" dirty="0">
                        <a:highlight>
                          <a:srgbClr val="ECD8E2"/>
                        </a:highlight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D8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845820" y="4869779"/>
            <a:ext cx="6309360" cy="1051560"/>
          </a:xfrm>
          <a:prstGeom prst="roundRect">
            <a:avLst>
              <a:gd name="adj" fmla="val 8696"/>
            </a:avLst>
          </a:prstGeom>
          <a:solidFill>
            <a:srgbClr val="ECD8E2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AE"/>
          </a:p>
        </p:txBody>
      </p:sp>
      <p:sp>
        <p:nvSpPr>
          <p:cNvPr id="8" name="Text 4"/>
          <p:cNvSpPr/>
          <p:nvPr/>
        </p:nvSpPr>
        <p:spPr>
          <a:xfrm>
            <a:off x="982980" y="4878286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(static site): </a:t>
            </a: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$78 / month  •  $940 / year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982980" y="5398731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managed DB (Azure DB for MySQL, once Recipe Library/accounts launch): + $25–35/mo</a:t>
            </a:r>
            <a:endParaRPr lang="en-US" sz="1400" b="1" dirty="0"/>
          </a:p>
        </p:txBody>
      </p:sp>
      <p:sp>
        <p:nvSpPr>
          <p:cNvPr id="10" name="Shape 6"/>
          <p:cNvSpPr/>
          <p:nvPr/>
        </p:nvSpPr>
        <p:spPr>
          <a:xfrm>
            <a:off x="7378350" y="4869779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ECD8E2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AE" dirty="0">
              <a:highlight>
                <a:srgbClr val="F4C6ED"/>
              </a:highlight>
            </a:endParaRPr>
          </a:p>
        </p:txBody>
      </p:sp>
      <p:sp>
        <p:nvSpPr>
          <p:cNvPr id="11" name="Shape 7"/>
          <p:cNvSpPr/>
          <p:nvPr/>
        </p:nvSpPr>
        <p:spPr>
          <a:xfrm>
            <a:off x="7497296" y="5094068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1290" y="5139842"/>
            <a:ext cx="382219" cy="38221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67402" y="5123983"/>
            <a:ext cx="2326122" cy="543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over server, stack and future database growth</a:t>
            </a:r>
            <a:r>
              <a:rPr lang="en-US" sz="1400" b="1" dirty="0">
                <a:solidFill>
                  <a:srgbClr val="F7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b="1" dirty="0"/>
          </a:p>
        </p:txBody>
      </p:sp>
      <p:sp>
        <p:nvSpPr>
          <p:cNvPr id="15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94360" cy="594360"/>
          </a:xfrm>
          <a:prstGeom prst="ellipse">
            <a:avLst/>
          </a:prstGeom>
          <a:solidFill>
            <a:srgbClr val="E7E8D1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" y="455371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8404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TCO: Wix (SaaS)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32588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Core plan — hosted website builder, billed annually</a:t>
            </a:r>
            <a:endParaRPr lang="en-US" sz="1400" b="1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740139"/>
              </p:ext>
            </p:extLst>
          </p:nvPr>
        </p:nvGraphicFramePr>
        <p:xfrm>
          <a:off x="548640" y="1417320"/>
          <a:ext cx="10058400" cy="256032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Cost Item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Book Antiqua" panose="020406020503050303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D8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Detail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Book Antiqua" panose="020406020503050303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D8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Monthly (USD)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Book Antiqua" panose="020406020503050303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D8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Wix Core plan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D8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50 GB storage, blog + basic e-commerce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D8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$29.00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D8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Domain name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D8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Free yr 1, then ~$1.25/mo amortised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D8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$1.25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D8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SSL certificate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D8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Included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D8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$0.00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D8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Custom map/interactivity app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D8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3rd-party app for Regional Explorer-style map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D8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$15.00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D8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Content/design labour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D8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No server admin, but design/content time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D8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$0.00*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D8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Regional Explorer (DB-backed)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D8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Not supported on hosted builder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D8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Not possible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D8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19963" y="4544568"/>
            <a:ext cx="6309360" cy="1051560"/>
          </a:xfrm>
          <a:prstGeom prst="roundRect">
            <a:avLst>
              <a:gd name="adj" fmla="val 8696"/>
            </a:avLst>
          </a:prstGeom>
          <a:solidFill>
            <a:srgbClr val="ECD8E2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endParaRPr lang="en-AE" dirty="0"/>
          </a:p>
        </p:txBody>
      </p:sp>
      <p:sp>
        <p:nvSpPr>
          <p:cNvPr id="8" name="Text 4"/>
          <p:cNvSpPr/>
          <p:nvPr/>
        </p:nvSpPr>
        <p:spPr>
          <a:xfrm>
            <a:off x="777240" y="464515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</a:t>
            </a: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$45 / month  •  $545 / year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34263" y="5001581"/>
            <a:ext cx="6080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today — but caps out before Dessertz's planned features are reachable.</a:t>
            </a:r>
            <a:endParaRPr lang="en-US" sz="1400" b="1" dirty="0"/>
          </a:p>
        </p:txBody>
      </p:sp>
      <p:sp>
        <p:nvSpPr>
          <p:cNvPr id="10" name="Shape 6"/>
          <p:cNvSpPr/>
          <p:nvPr/>
        </p:nvSpPr>
        <p:spPr>
          <a:xfrm>
            <a:off x="7086600" y="452628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ECD8E2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AE"/>
          </a:p>
        </p:txBody>
      </p:sp>
      <p:sp>
        <p:nvSpPr>
          <p:cNvPr id="11" name="Text 7"/>
          <p:cNvSpPr/>
          <p:nvPr/>
        </p:nvSpPr>
        <p:spPr>
          <a:xfrm>
            <a:off x="7315200" y="463600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* Design/content time is real, just not itemised in Wix's pricing — it's still a labour cost to Dessertz.</a:t>
            </a:r>
            <a:endParaRPr lang="en-US" sz="1200" b="1" dirty="0"/>
          </a:p>
        </p:txBody>
      </p:sp>
      <p:sp>
        <p:nvSpPr>
          <p:cNvPr id="13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3" y="434437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the Dollar Figure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69263" y="1009041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Non-monetary factors that shape the real decision</a:t>
            </a:r>
            <a:endParaRPr lang="en-US" sz="1600" b="1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881360" cy="768096"/>
          </a:xfrm>
          <a:prstGeom prst="roundRect">
            <a:avLst>
              <a:gd name="adj" fmla="val 9524"/>
            </a:avLst>
          </a:prstGeom>
          <a:solidFill>
            <a:srgbClr val="ECD8E2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AE" dirty="0">
              <a:highlight>
                <a:srgbClr val="ECD8E2"/>
              </a:highlight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1609344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615" y="1712671"/>
            <a:ext cx="360273" cy="360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1856" y="1554480"/>
            <a:ext cx="2107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B12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Control &amp; customisation</a:t>
            </a:r>
            <a:endParaRPr lang="en-US" sz="1600" dirty="0">
              <a:latin typeface="Book Antiqua" panose="0204060205030503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429000" y="1563624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IaaS: </a:t>
            </a:r>
            <a:r>
              <a:rPr lang="en-US" sz="14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server access supports custom features like the Regional Explorer</a:t>
            </a:r>
            <a:endParaRPr lang="en-US" sz="1400" b="1" dirty="0"/>
          </a:p>
        </p:txBody>
      </p:sp>
      <p:sp>
        <p:nvSpPr>
          <p:cNvPr id="9" name="Text 6"/>
          <p:cNvSpPr/>
          <p:nvPr/>
        </p:nvSpPr>
        <p:spPr>
          <a:xfrm>
            <a:off x="7360920" y="1563624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Wix SaaS: </a:t>
            </a:r>
            <a:r>
              <a:rPr lang="en-US" sz="14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to Wix's app ecosystem and templates</a:t>
            </a:r>
            <a:endParaRPr lang="en-US" sz="1400" b="1" dirty="0"/>
          </a:p>
        </p:txBody>
      </p:sp>
      <p:sp>
        <p:nvSpPr>
          <p:cNvPr id="10" name="Shape 7"/>
          <p:cNvSpPr/>
          <p:nvPr/>
        </p:nvSpPr>
        <p:spPr>
          <a:xfrm>
            <a:off x="556809" y="2404872"/>
            <a:ext cx="10881360" cy="768096"/>
          </a:xfrm>
          <a:prstGeom prst="roundRect">
            <a:avLst>
              <a:gd name="adj" fmla="val 9524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AE"/>
          </a:p>
        </p:txBody>
      </p:sp>
      <p:sp>
        <p:nvSpPr>
          <p:cNvPr id="11" name="Shape 8"/>
          <p:cNvSpPr/>
          <p:nvPr/>
        </p:nvSpPr>
        <p:spPr>
          <a:xfrm>
            <a:off x="685800" y="250545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831" y="2573487"/>
            <a:ext cx="430865" cy="4308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245973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B12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600" dirty="0">
              <a:latin typeface="Book Antiqua" panose="0204060205030503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3429000" y="2459736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IaaS: </a:t>
            </a:r>
            <a:r>
              <a:rPr lang="en-US" sz="14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VM, add DB tier as traffic/features grow</a:t>
            </a:r>
            <a:endParaRPr lang="en-US" sz="1400" b="1" dirty="0"/>
          </a:p>
        </p:txBody>
      </p:sp>
      <p:sp>
        <p:nvSpPr>
          <p:cNvPr id="15" name="Text 11"/>
          <p:cNvSpPr/>
          <p:nvPr/>
        </p:nvSpPr>
        <p:spPr>
          <a:xfrm>
            <a:off x="7360920" y="245973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Wix SaaS: </a:t>
            </a:r>
            <a:r>
              <a:rPr lang="en-US" sz="14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by plan tier; no infrastructure scaling</a:t>
            </a:r>
            <a:endParaRPr lang="en-US" sz="1400" b="1" dirty="0"/>
          </a:p>
        </p:txBody>
      </p:sp>
      <p:sp>
        <p:nvSpPr>
          <p:cNvPr id="16" name="Shape 12"/>
          <p:cNvSpPr/>
          <p:nvPr/>
        </p:nvSpPr>
        <p:spPr>
          <a:xfrm>
            <a:off x="556809" y="3300984"/>
            <a:ext cx="10881360" cy="768096"/>
          </a:xfrm>
          <a:prstGeom prst="roundRect">
            <a:avLst>
              <a:gd name="adj" fmla="val 9524"/>
            </a:avLst>
          </a:prstGeom>
          <a:solidFill>
            <a:srgbClr val="ECD8E2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AE"/>
          </a:p>
        </p:txBody>
      </p:sp>
      <p:sp>
        <p:nvSpPr>
          <p:cNvPr id="17" name="Shape 13"/>
          <p:cNvSpPr/>
          <p:nvPr/>
        </p:nvSpPr>
        <p:spPr>
          <a:xfrm>
            <a:off x="685800" y="340156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831" y="3469599"/>
            <a:ext cx="430865" cy="43086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335584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B12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Vendor lock-in</a:t>
            </a:r>
            <a:endParaRPr lang="en-US" sz="1600" dirty="0">
              <a:latin typeface="Book Antiqua" panose="02040602050305030304" pitchFamily="18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3429000" y="3355848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IaaS: </a:t>
            </a:r>
            <a:r>
              <a:rPr lang="en-US" sz="14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Apache/Ubuntu stack is portable to any cloud</a:t>
            </a:r>
            <a:endParaRPr lang="en-US" sz="1400" b="1" dirty="0"/>
          </a:p>
        </p:txBody>
      </p:sp>
      <p:sp>
        <p:nvSpPr>
          <p:cNvPr id="21" name="Text 16"/>
          <p:cNvSpPr/>
          <p:nvPr/>
        </p:nvSpPr>
        <p:spPr>
          <a:xfrm>
            <a:off x="7360920" y="335584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Wix SaaS: </a:t>
            </a:r>
            <a:r>
              <a:rPr lang="en-US" sz="14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and design harder to migrate elsewhere</a:t>
            </a:r>
            <a:endParaRPr lang="en-US" sz="1400" b="1" dirty="0"/>
          </a:p>
        </p:txBody>
      </p:sp>
      <p:sp>
        <p:nvSpPr>
          <p:cNvPr id="22" name="Shape 17"/>
          <p:cNvSpPr/>
          <p:nvPr/>
        </p:nvSpPr>
        <p:spPr>
          <a:xfrm>
            <a:off x="548640" y="4197096"/>
            <a:ext cx="10881360" cy="768096"/>
          </a:xfrm>
          <a:prstGeom prst="roundRect">
            <a:avLst>
              <a:gd name="adj" fmla="val 9524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AE"/>
          </a:p>
        </p:txBody>
      </p:sp>
      <p:sp>
        <p:nvSpPr>
          <p:cNvPr id="23" name="Shape 18"/>
          <p:cNvSpPr/>
          <p:nvPr/>
        </p:nvSpPr>
        <p:spPr>
          <a:xfrm>
            <a:off x="685800" y="42976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831" y="4365711"/>
            <a:ext cx="430865" cy="43086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17320" y="425196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burden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3566160" y="4283964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IaaS: </a:t>
            </a:r>
            <a:r>
              <a:rPr lang="en-US" sz="14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own patching, security updates, uptime</a:t>
            </a:r>
            <a:endParaRPr lang="en-US" sz="1400" b="1" dirty="0"/>
          </a:p>
        </p:txBody>
      </p:sp>
      <p:sp>
        <p:nvSpPr>
          <p:cNvPr id="27" name="Text 21"/>
          <p:cNvSpPr/>
          <p:nvPr/>
        </p:nvSpPr>
        <p:spPr>
          <a:xfrm>
            <a:off x="7360920" y="425196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Wix SaaS: </a:t>
            </a:r>
            <a:r>
              <a:rPr lang="en-US" sz="14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managed — zero server admin required</a:t>
            </a:r>
            <a:endParaRPr lang="en-US" sz="1400" b="1" dirty="0"/>
          </a:p>
        </p:txBody>
      </p:sp>
      <p:sp>
        <p:nvSpPr>
          <p:cNvPr id="28" name="Shape 22"/>
          <p:cNvSpPr/>
          <p:nvPr/>
        </p:nvSpPr>
        <p:spPr>
          <a:xfrm>
            <a:off x="548640" y="5093208"/>
            <a:ext cx="10881360" cy="768096"/>
          </a:xfrm>
          <a:prstGeom prst="roundRect">
            <a:avLst>
              <a:gd name="adj" fmla="val 9524"/>
            </a:avLst>
          </a:prstGeom>
          <a:solidFill>
            <a:srgbClr val="ECD8E2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AE"/>
          </a:p>
        </p:txBody>
      </p:sp>
      <p:sp>
        <p:nvSpPr>
          <p:cNvPr id="29" name="Shape 23"/>
          <p:cNvSpPr/>
          <p:nvPr/>
        </p:nvSpPr>
        <p:spPr>
          <a:xfrm>
            <a:off x="685800" y="519379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3831" y="5261823"/>
            <a:ext cx="430865" cy="43086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417320" y="514807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to market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3429000" y="5148072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IaaS: </a:t>
            </a:r>
            <a:r>
              <a:rPr lang="en-US" sz="14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setup — slower initial launch</a:t>
            </a:r>
            <a:endParaRPr lang="en-US" sz="1400" b="1" dirty="0"/>
          </a:p>
        </p:txBody>
      </p:sp>
      <p:sp>
        <p:nvSpPr>
          <p:cNvPr id="33" name="Text 26"/>
          <p:cNvSpPr/>
          <p:nvPr/>
        </p:nvSpPr>
        <p:spPr>
          <a:xfrm>
            <a:off x="7360920" y="514807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Wix SaaS: </a:t>
            </a:r>
            <a:r>
              <a:rPr lang="en-US" sz="14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minutes with a drag-and-drop editor</a:t>
            </a:r>
            <a:endParaRPr lang="en-US" sz="1400" b="1" dirty="0"/>
          </a:p>
        </p:txBody>
      </p:sp>
      <p:sp>
        <p:nvSpPr>
          <p:cNvPr id="35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62" y="590702"/>
            <a:ext cx="555955" cy="5559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63328" y="522981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52D25"/>
                </a:solidFill>
                <a:latin typeface="Book Antiqua" panose="02040602050305030304" pitchFamily="18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3200" dirty="0">
              <a:solidFill>
                <a:srgbClr val="652D25"/>
              </a:solidFill>
              <a:latin typeface="Book Antiqua" panose="0204060205030503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24535" y="1508760"/>
            <a:ext cx="10881360" cy="1188720"/>
          </a:xfrm>
          <a:prstGeom prst="roundRect">
            <a:avLst>
              <a:gd name="adj" fmla="val 9231"/>
            </a:avLst>
          </a:prstGeom>
          <a:solidFill>
            <a:srgbClr val="652D25"/>
          </a:solidFill>
          <a:ln/>
        </p:spPr>
        <p:txBody>
          <a:bodyPr/>
          <a:lstStyle/>
          <a:p>
            <a:endParaRPr lang="en-AE" dirty="0">
              <a:highlight>
                <a:srgbClr val="ECD8E2"/>
              </a:highlight>
            </a:endParaRPr>
          </a:p>
        </p:txBody>
      </p:sp>
      <p:sp>
        <p:nvSpPr>
          <p:cNvPr id="8" name="Text 5"/>
          <p:cNvSpPr/>
          <p:nvPr/>
        </p:nvSpPr>
        <p:spPr>
          <a:xfrm>
            <a:off x="914400" y="1645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Book Antiqua" panose="02040602050305030304" pitchFamily="18" charset="0"/>
                <a:ea typeface="Cambria" pitchFamily="34" charset="-122"/>
                <a:cs typeface="Cambria" pitchFamily="34" charset="-120"/>
              </a:rPr>
              <a:t>Stay on Azure IaaS.</a:t>
            </a:r>
            <a:endParaRPr lang="en-US" sz="220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14400" y="210312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$33/mo premium over Wix today buys the control Dessertz's roadmap already requires.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640080" y="2971800"/>
            <a:ext cx="3195828" cy="2541232"/>
          </a:xfrm>
          <a:prstGeom prst="roundRect">
            <a:avLst>
              <a:gd name="adj" fmla="val 3380"/>
            </a:avLst>
          </a:prstGeom>
          <a:solidFill>
            <a:srgbClr val="652D25"/>
          </a:solidFill>
          <a:ln/>
        </p:spPr>
        <p:txBody>
          <a:bodyPr/>
          <a:lstStyle/>
          <a:p>
            <a:endParaRPr lang="en-AE" dirty="0">
              <a:highlight>
                <a:srgbClr val="652D25"/>
              </a:highlight>
            </a:endParaRPr>
          </a:p>
        </p:txBody>
      </p:sp>
      <p:sp>
        <p:nvSpPr>
          <p:cNvPr id="13" name="Text 9"/>
          <p:cNvSpPr/>
          <p:nvPr/>
        </p:nvSpPr>
        <p:spPr>
          <a:xfrm>
            <a:off x="845820" y="3138818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7F2E9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Cost gap narrows fast</a:t>
            </a:r>
            <a:endParaRPr lang="en-US" dirty="0">
              <a:latin typeface="Book Antiqua" panose="0204060205030503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777227" y="3176140"/>
            <a:ext cx="302940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Wix's map app + Azure's future DB are both counted, the price difference shrinks well below the value of extra control.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5" name="Shape 11"/>
          <p:cNvSpPr/>
          <p:nvPr/>
        </p:nvSpPr>
        <p:spPr>
          <a:xfrm>
            <a:off x="4369428" y="3069294"/>
            <a:ext cx="3196763" cy="2469853"/>
          </a:xfrm>
          <a:prstGeom prst="roundRect">
            <a:avLst>
              <a:gd name="adj" fmla="val 3380"/>
            </a:avLst>
          </a:prstGeom>
          <a:solidFill>
            <a:srgbClr val="652D25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8" name="Text 13"/>
          <p:cNvSpPr/>
          <p:nvPr/>
        </p:nvSpPr>
        <p:spPr>
          <a:xfrm>
            <a:off x="4413811" y="3160278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7F2E9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Roadmap needs a real backend</a:t>
            </a:r>
            <a:endParaRPr lang="en-US" dirty="0">
              <a:latin typeface="Book Antiqua" panose="02040602050305030304" pitchFamily="18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4413811" y="3583272"/>
            <a:ext cx="3008361" cy="1837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Explorer, accounts and a searchable Recipe Library all need server-side logic Wix's builder can't provide.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0" name="Shape 15"/>
          <p:cNvSpPr/>
          <p:nvPr/>
        </p:nvSpPr>
        <p:spPr>
          <a:xfrm>
            <a:off x="8489975" y="3047713"/>
            <a:ext cx="3051808" cy="2465319"/>
          </a:xfrm>
          <a:prstGeom prst="roundRect">
            <a:avLst>
              <a:gd name="adj" fmla="val 3380"/>
            </a:avLst>
          </a:prstGeom>
          <a:solidFill>
            <a:srgbClr val="652D25"/>
          </a:solidFill>
          <a:ln/>
        </p:spPr>
        <p:txBody>
          <a:bodyPr/>
          <a:lstStyle/>
          <a:p>
            <a:endParaRPr lang="en-AE" dirty="0"/>
          </a:p>
        </p:txBody>
      </p:sp>
      <p:sp>
        <p:nvSpPr>
          <p:cNvPr id="23" name="Text 17"/>
          <p:cNvSpPr/>
          <p:nvPr/>
        </p:nvSpPr>
        <p:spPr>
          <a:xfrm>
            <a:off x="8610677" y="3101018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SaaS remains a fallback</a:t>
            </a:r>
            <a:endParaRPr lang="en-US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8610676" y="3268988"/>
            <a:ext cx="3110791" cy="1930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Dessertz stayed a simple static blog with no growth plans, Wix would be the smarter, faster choice.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6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References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91985"/>
            <a:ext cx="8149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85081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Pricing sources and guides used to build this cost model</a:t>
            </a:r>
            <a:endParaRPr lang="en-US" sz="1600" b="1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720" cy="3276000"/>
          </a:xfrm>
          <a:prstGeom prst="roundRect">
            <a:avLst>
              <a:gd name="adj" fmla="val 2474"/>
            </a:avLst>
          </a:prstGeom>
          <a:solidFill>
            <a:srgbClr val="ECD8E2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10516680" cy="304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108000"/>
              </a:lnSpc>
              <a:spcAft>
                <a:spcPts val="10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Pricing Calculator </a:t>
            </a: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— azure.microsoft.com/pricing/calculator — used to estimate VM, managed disk and data egress costs.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Wix Pricing Page </a:t>
            </a: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— wix.com/premium/plans — Core plan cost and app-marketplace pricing for the map add-on.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Let’s Encrypt / Certbot Documentation </a:t>
            </a: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— certbot.eff.org — guide used to configure the free SSL certificate on the Azure VM.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Namecheap Domain Pricing </a:t>
            </a: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— namecheap.com — source for the .com registration estimate, amortised monthly.</a:t>
            </a:r>
            <a:endParaRPr lang="en-US" sz="1500" dirty="0"/>
          </a:p>
          <a:p>
            <a:pPr marL="342900" indent="-342900">
              <a:lnSpc>
                <a:spcPct val="108000"/>
              </a:lnSpc>
              <a:buSzPct val="100000"/>
              <a:buFont typeface="Wingdings" panose="05000000000000000000" pitchFamily="2" charset="2"/>
              <a:buChar char="v"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Admin-labour estimate </a:t>
            </a: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— based on my own time spent patching and configuring the Ubuntu 22.04 / Apache VM this semester, valued at a self-set $30/hr.</a:t>
            </a:r>
            <a:endParaRPr lang="en-US" sz="1500" dirty="0"/>
          </a:p>
        </p:txBody>
      </p:sp>
      <p:sp>
        <p:nvSpPr>
          <p:cNvPr id="40" name="Note Text"/>
          <p:cNvSpPr/>
          <p:nvPr/>
        </p:nvSpPr>
        <p:spPr>
          <a:xfrm>
            <a:off x="639775" y="5029200"/>
            <a:ext cx="1109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are estimates based on publicly listed pricing as of the presentation date and are subject to change.</a:t>
            </a:r>
            <a:endParaRPr lang="en-US" sz="1600" b="1" i="1" dirty="0"/>
          </a:p>
        </p:txBody>
      </p:sp>
      <p:sp>
        <p:nvSpPr>
          <p:cNvPr id="28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1134</TotalTime>
  <Words>1321</Words>
  <Application>Microsoft Office PowerPoint</Application>
  <PresentationFormat>Widescreen</PresentationFormat>
  <Paragraphs>126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Book Antiqua</vt:lpstr>
      <vt:lpstr>Calibri</vt:lpstr>
      <vt:lpstr>Cambria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Dessertz — Total Cost of Ownership</dc:title>
  <dc:subject>PptxGenJS Presentation</dc:subject>
  <dc:creator>ICT171 Student</dc:creator>
  <cp:lastModifiedBy>iranya dewmini</cp:lastModifiedBy>
  <cp:revision>5</cp:revision>
  <dcterms:created xsi:type="dcterms:W3CDTF">2026-07-02T11:08:19Z</dcterms:created>
  <dcterms:modified xsi:type="dcterms:W3CDTF">2026-07-03T14:19:51Z</dcterms:modified>
</cp:coreProperties>
</file>